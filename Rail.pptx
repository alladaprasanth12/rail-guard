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1" r:id="rId25"/>
    <p:sldId id="282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Safety expenditure (₹ crore)</c:v>
                </c:pt>
              </c:strCache>
            </c:strRef>
          </c:tx>
          <c:spPr>
            <a:ln w="25400" cap="flat">
              <a:solidFill>
                <a:srgbClr val="1E7FB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7FBF"/>
              </a:solidFill>
              <a:ln w="9525" cap="flat">
                <a:solidFill>
                  <a:srgbClr val="1E7FB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  <c:pt idx="5">
                  <c:v>Y6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39200</c:v>
                </c:pt>
                <c:pt idx="1">
                  <c:v>87336</c:v>
                </c:pt>
                <c:pt idx="2">
                  <c:v>101662</c:v>
                </c:pt>
                <c:pt idx="3">
                  <c:v>114022</c:v>
                </c:pt>
                <c:pt idx="4">
                  <c:v>117693</c:v>
                </c:pt>
                <c:pt idx="5">
                  <c:v>120389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28E-450E-8BD9-4A1F056B7F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82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82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983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RailGuard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9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Geometry Defect Detection, Based upon SIH problem statement SIH25020(2025)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automated prototype for real-time detection of gauge widening and cross-level track anomalies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5669280" cy="0"/>
          </a:xfrm>
          <a:prstGeom prst="line">
            <a:avLst/>
          </a:prstGeom>
          <a:noFill/>
          <a:ln w="12700">
            <a:solidFill>
              <a:srgbClr val="3347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462273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16294A"/>
          </a:solidFill>
          <a:ln w="9525">
            <a:solidFill>
              <a:srgbClr val="2C42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4608576"/>
            <a:ext cx="502920" cy="502920"/>
          </a:xfrm>
          <a:prstGeom prst="ellipse">
            <a:avLst/>
          </a:prstGeom>
          <a:solidFill>
            <a:srgbClr val="29ABE2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35024" y="453542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35024" y="49103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7680" y="443484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16294A"/>
          </a:solidFill>
          <a:ln w="9525">
            <a:solidFill>
              <a:srgbClr val="2C42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62272" y="4608576"/>
            <a:ext cx="502920" cy="502920"/>
          </a:xfrm>
          <a:prstGeom prst="ellipse">
            <a:avLst/>
          </a:prstGeom>
          <a:solidFill>
            <a:srgbClr val="29ABE2"/>
          </a:solidFill>
          <a:ln/>
        </p:spPr>
      </p:sp>
      <p:sp>
        <p:nvSpPr>
          <p:cNvPr id="16" name="Text 14"/>
          <p:cNvSpPr/>
          <p:nvPr/>
        </p:nvSpPr>
        <p:spPr>
          <a:xfrm>
            <a:off x="4462272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84064" y="453542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Evidence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84064" y="49103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46720" y="443484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16294A"/>
          </a:solidFill>
          <a:ln w="9525">
            <a:solidFill>
              <a:srgbClr val="2C42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11312" y="4608576"/>
            <a:ext cx="502920" cy="502920"/>
          </a:xfrm>
          <a:prstGeom prst="ellipse">
            <a:avLst/>
          </a:prstGeom>
          <a:solidFill>
            <a:srgbClr val="29ABE2"/>
          </a:solidFill>
          <a:ln/>
        </p:spPr>
      </p:sp>
      <p:sp>
        <p:nvSpPr>
          <p:cNvPr id="21" name="Text 19"/>
          <p:cNvSpPr/>
          <p:nvPr/>
        </p:nvSpPr>
        <p:spPr>
          <a:xfrm>
            <a:off x="8211312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33104" y="453542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System Design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33104" y="49103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5504688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16294A"/>
          </a:solidFill>
          <a:ln w="9525">
            <a:solidFill>
              <a:srgbClr val="2C42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678424"/>
            <a:ext cx="502920" cy="502920"/>
          </a:xfrm>
          <a:prstGeom prst="ellipse">
            <a:avLst/>
          </a:prstGeom>
          <a:solidFill>
            <a:srgbClr val="29ABE2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678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35024" y="56052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Build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335024" y="59801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97680" y="5504688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16294A"/>
          </a:solidFill>
          <a:ln w="9525">
            <a:solidFill>
              <a:srgbClr val="2C42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62272" y="5678424"/>
            <a:ext cx="502920" cy="502920"/>
          </a:xfrm>
          <a:prstGeom prst="ellipse">
            <a:avLst/>
          </a:prstGeom>
          <a:solidFill>
            <a:srgbClr val="29ABE2"/>
          </a:solidFill>
          <a:ln/>
        </p:spPr>
      </p:sp>
      <p:sp>
        <p:nvSpPr>
          <p:cNvPr id="31" name="Text 29"/>
          <p:cNvSpPr/>
          <p:nvPr/>
        </p:nvSpPr>
        <p:spPr>
          <a:xfrm>
            <a:off x="4462272" y="5678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84064" y="56052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Validation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84064" y="59801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46720" y="5504688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16294A"/>
          </a:solidFill>
          <a:ln w="9525">
            <a:solidFill>
              <a:srgbClr val="2C42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11312" y="5678424"/>
            <a:ext cx="502920" cy="502920"/>
          </a:xfrm>
          <a:prstGeom prst="ellipse">
            <a:avLst/>
          </a:prstGeom>
          <a:solidFill>
            <a:srgbClr val="29ABE2"/>
          </a:solidFill>
          <a:ln/>
        </p:spPr>
      </p:sp>
      <p:sp>
        <p:nvSpPr>
          <p:cNvPr id="36" name="Text 34"/>
          <p:cNvSpPr/>
          <p:nvPr/>
        </p:nvSpPr>
        <p:spPr>
          <a:xfrm>
            <a:off x="8211312" y="5678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833104" y="56052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Timeline &amp; Future Scope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833104" y="59801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918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685800" y="3794760"/>
            <a:ext cx="1280160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977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4983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Background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18488"/>
            <a:ext cx="329184" cy="329184"/>
          </a:xfrm>
          <a:prstGeom prst="ellipse">
            <a:avLst/>
          </a:prstGeom>
          <a:solidFill>
            <a:srgbClr val="1E7FB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18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Derailment Risk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85623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geometry defects account for a major share of freight and passenger train derailments globally.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41732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6208" y="1618488"/>
            <a:ext cx="329184" cy="329184"/>
          </a:xfrm>
          <a:prstGeom prst="ellipse">
            <a:avLst/>
          </a:prstGeom>
          <a:solidFill>
            <a:srgbClr val="1E7FBF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618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20840" y="155448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Widening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185623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 spread apart beyond permissible tolerances, risking catastrophic wheel drop between structural rails.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2944368"/>
            <a:ext cx="329184" cy="329184"/>
          </a:xfrm>
          <a:prstGeom prst="ellipse">
            <a:avLst/>
          </a:prstGeom>
          <a:solidFill>
            <a:srgbClr val="1E7FB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8803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Cross-Level / Twist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821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asymmetry between rails over short distances causes vehicle dynamic instability.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74320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2944368"/>
            <a:ext cx="329184" cy="329184"/>
          </a:xfrm>
          <a:prstGeom prst="ellipse">
            <a:avLst/>
          </a:prstGeom>
          <a:solidFill>
            <a:srgbClr val="1E7FBF"/>
          </a:solidFill>
          <a:ln/>
        </p:spPr>
      </p:sp>
      <p:sp>
        <p:nvSpPr>
          <p:cNvPr id="21" name="Text 19"/>
          <p:cNvSpPr/>
          <p:nvPr/>
        </p:nvSpPr>
        <p:spPr>
          <a:xfrm>
            <a:off x="6236208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8803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Gaps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31821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 inspection is periodic, labour-intensive, and prone to gaps between maintenance cycles.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87DE7C0-367F-9F5B-AE72-8DB2C9637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5" y="4276534"/>
            <a:ext cx="2619375" cy="174307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CAE2250-4489-153F-A3AB-CE6C215EA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9258" y="4276534"/>
            <a:ext cx="2236470" cy="174307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BDECBCA-C581-B5BE-CEBA-5C8A9404EB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221" y="4276533"/>
            <a:ext cx="2012823" cy="174307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99FAF80-ED8D-E3D6-3AA3-4616989B07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0" y="4276534"/>
            <a:ext cx="1538936" cy="17434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Defect Is Often Small. The Consequence Isn't.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33756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2468880"/>
          </a:xfrm>
          <a:prstGeom prst="roundRect">
            <a:avLst>
              <a:gd name="adj" fmla="val 2500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574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E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/ derailments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deficient track maintenance across selected zones, per national audit findings.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815084"/>
            <a:ext cx="3520440" cy="2421636"/>
          </a:xfrm>
          <a:prstGeom prst="roundRect">
            <a:avLst>
              <a:gd name="adj" fmla="val 2500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20574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E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572000" y="2880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&amp; weld failures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337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rail fractures and weld failures recorded across the same audited sections.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2421636"/>
          </a:xfrm>
          <a:prstGeom prst="roundRect">
            <a:avLst>
              <a:gd name="adj" fmla="val 2500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66760" y="20574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E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2,93,030cr+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8366760" y="2880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Track-safety allocation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3337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the financial year(2026-27) the government of Indian government allocated this money for track safety allocation.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76B4B04-99F3-C9DB-7ADA-F41036566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170" y="4236720"/>
            <a:ext cx="7200900" cy="262127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6E23253-7E28-F157-F62B-6E2A37CA4DE1}"/>
              </a:ext>
            </a:extLst>
          </p:cNvPr>
          <p:cNvSpPr txBox="1"/>
          <p:nvPr/>
        </p:nvSpPr>
        <p:spPr>
          <a:xfrm>
            <a:off x="8307705" y="6349168"/>
            <a:ext cx="3261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Source: centre of financial accountability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Rail Defect Can Look Like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OVERVIEW · USE THE MODEL TRACK TO RECREATE CONTROLLED DEFECTS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92808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Widening: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 spread apart beyond the standard gap, increasing derailment risk at the widened section.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999232"/>
            <a:ext cx="4617720" cy="0"/>
          </a:xfrm>
          <a:prstGeom prst="line">
            <a:avLst/>
          </a:prstGeom>
          <a:noFill/>
          <a:ln w="25400">
            <a:solidFill>
              <a:srgbClr val="29AB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145536"/>
            <a:ext cx="4617720" cy="0"/>
          </a:xfrm>
          <a:prstGeom prst="line">
            <a:avLst/>
          </a:prstGeom>
          <a:noFill/>
          <a:ln w="25400">
            <a:solidFill>
              <a:srgbClr val="D7E2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69164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892808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Cross-Level / Twist: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2860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rail sits higher than the other, or the track twists over a short distance.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999232"/>
            <a:ext cx="4617720" cy="0"/>
          </a:xfrm>
          <a:prstGeom prst="line">
            <a:avLst/>
          </a:prstGeom>
          <a:noFill/>
          <a:ln w="25400">
            <a:solidFill>
              <a:srgbClr val="29AB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3145536"/>
            <a:ext cx="4617720" cy="0"/>
          </a:xfrm>
          <a:prstGeom prst="line">
            <a:avLst/>
          </a:prstGeom>
          <a:noFill/>
          <a:ln w="25400">
            <a:solidFill>
              <a:srgbClr val="D7E2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5760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858768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Rail 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25196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fracture or separation forms in the running rail, often starting from a hidden flaw.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965192"/>
            <a:ext cx="4617720" cy="0"/>
          </a:xfrm>
          <a:prstGeom prst="line">
            <a:avLst/>
          </a:prstGeom>
          <a:noFill/>
          <a:ln w="25400">
            <a:solidFill>
              <a:srgbClr val="29AB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111496"/>
            <a:ext cx="4617720" cy="0"/>
          </a:xfrm>
          <a:prstGeom prst="line">
            <a:avLst/>
          </a:prstGeom>
          <a:noFill/>
          <a:ln w="25400">
            <a:solidFill>
              <a:srgbClr val="D7E2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363474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6309360" y="3858768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Geometry Anomaly: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425196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alignment or geometry deviation along a stretch of track.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4965192"/>
            <a:ext cx="4617720" cy="0"/>
          </a:xfrm>
          <a:prstGeom prst="line">
            <a:avLst/>
          </a:prstGeom>
          <a:noFill/>
          <a:ln w="25400">
            <a:solidFill>
              <a:srgbClr val="29AB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5111496"/>
            <a:ext cx="4617720" cy="0"/>
          </a:xfrm>
          <a:prstGeom prst="line">
            <a:avLst/>
          </a:prstGeom>
          <a:noFill/>
          <a:ln w="25400">
            <a:solidFill>
              <a:srgbClr val="D7E2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815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685800" y="3794760"/>
            <a:ext cx="1280160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977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Evidence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4983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918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15"/>
            <a:ext cx="12191695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Track Defects Became Real Derailments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CASES: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2880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DCEEF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Failure / Old Flaw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2212848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passenger express derailed after several coaches came off the track, resulting in fatalities. The audit record attributed the accident to rail failure from a pre-existing flaw, and noted overdue deep screening and gaps in track-recording coverage.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164592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82880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DCEEFB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Fracture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63640" y="2212848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passenger express derailed after a rail fracture; multiple coaches left the track and passengers were injured. The audit estimated a multi-crore figure in asset damage; the final safety investigation report was still pending.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913632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DCEEF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136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/ Rail Fracture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429768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rear coaches of an express service derailed after a fracture near a rail joint, injuring passengers. Follow-up ultrasonic flaw-detection surveys found numerous additional defective welds and rails nearby.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3730752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913632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DCEEFB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9136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Crack → Rail Break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63640" y="429768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rail break was traced to a fatigue crack that started at clustered material inclusions and grew to critical length. The investigating authority recommended exploring real-time monitoring of track health.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Cases &amp; Research 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66360" cy="3291840"/>
          </a:xfrm>
          <a:prstGeom prst="roundRect">
            <a:avLst>
              <a:gd name="adj" fmla="val 2222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Cases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617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UK rail-accident investigation into a freight-train derailment at a station identified gauge widening as a contributing factor.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Australian transport-safety investigation into a separate freight derailment identified rail-head fracture and gauge-widening evidence as contributing causes.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35040" y="1371600"/>
            <a:ext cx="5577840" cy="3291840"/>
          </a:xfrm>
          <a:prstGeom prst="roundRect">
            <a:avLst>
              <a:gd name="adj" fmla="val 2222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Referenced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196596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Comptroller &amp; Auditor General (CAG) audit report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Commissioner of Railway Safety (CRS) action-taken report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Information Bureau (PIB) releases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Legislative Research analysis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Rail Accident Investigation Branch (RAIB)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Transport Safety Bureau (ATSB)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Spending on Railway Safety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SAFETY-RELATED RAILWAY FIGURES — NOT A DEFECT-SPECIFIC BUDGET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858000" cy="4206240"/>
          </a:xfrm>
          <a:prstGeom prst="roundRect">
            <a:avLst>
              <a:gd name="adj" fmla="val 1739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Safety-related expenditure / budget (₹ crore)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822960" y="2194560"/>
          <a:ext cx="630936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635240" y="160020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infrastructure safety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21945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allocation in the tens of thousands of crores for the latest budget year.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35240" y="374904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63840" y="3931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renewals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863840" y="43434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thousands of kilometres of track renewed in recent years nationally.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685800" y="3794760"/>
            <a:ext cx="1280160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977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System Design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4983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14600" cy="5002530"/>
          </a:xfrm>
          <a:prstGeom prst="roundRect">
            <a:avLst>
              <a:gd name="adj" fmla="val 2909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1E7FB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423160"/>
            <a:ext cx="21122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3063240"/>
            <a:ext cx="211226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scaled motorized cart that detects gauge-widening and cross-level/twist anomalies in real time.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14600" cy="4991100"/>
          </a:xfrm>
          <a:prstGeom prst="roundRect">
            <a:avLst>
              <a:gd name="adj" fmla="val 2909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1783080"/>
            <a:ext cx="457200" cy="457200"/>
          </a:xfrm>
          <a:prstGeom prst="ellipse">
            <a:avLst/>
          </a:prstGeom>
          <a:solidFill>
            <a:srgbClr val="1E7FBF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423160"/>
            <a:ext cx="21122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Design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20440" y="3063240"/>
            <a:ext cx="211226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off-the-shelf microcontrollers and accessible sensors to keep the build within a modest student budget.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9904" y="1565910"/>
            <a:ext cx="2514600" cy="4991100"/>
          </a:xfrm>
          <a:prstGeom prst="roundRect">
            <a:avLst>
              <a:gd name="adj" fmla="val 2909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18504" y="1783080"/>
            <a:ext cx="457200" cy="457200"/>
          </a:xfrm>
          <a:prstGeom prst="ellipse">
            <a:avLst/>
          </a:prstGeom>
          <a:solidFill>
            <a:srgbClr val="1E7FBF"/>
          </a:solidFill>
          <a:ln/>
        </p:spPr>
      </p:sp>
      <p:sp>
        <p:nvSpPr>
          <p:cNvPr id="16" name="Text 14"/>
          <p:cNvSpPr/>
          <p:nvPr/>
        </p:nvSpPr>
        <p:spPr>
          <a:xfrm>
            <a:off x="6318504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122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3D-Printed Testbed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91072" y="3063240"/>
            <a:ext cx="211226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modular 3D-printed test track with calibrated defect zones for repeatable validation.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60536" y="1554480"/>
            <a:ext cx="2514600" cy="5059680"/>
          </a:xfrm>
          <a:prstGeom prst="roundRect">
            <a:avLst>
              <a:gd name="adj" fmla="val 2909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89136" y="1783080"/>
            <a:ext cx="457200" cy="457200"/>
          </a:xfrm>
          <a:prstGeom prst="ellipse">
            <a:avLst/>
          </a:prstGeom>
          <a:solidFill>
            <a:srgbClr val="1E7FBF"/>
          </a:solidFill>
          <a:ln/>
        </p:spPr>
      </p:sp>
      <p:sp>
        <p:nvSpPr>
          <p:cNvPr id="21" name="Text 19"/>
          <p:cNvSpPr/>
          <p:nvPr/>
        </p:nvSpPr>
        <p:spPr>
          <a:xfrm>
            <a:off x="9089136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61704" y="2423160"/>
            <a:ext cx="21122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Dashboard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061704" y="3063240"/>
            <a:ext cx="211226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an on-board WiFi web server providing real-time telemetry to any laptop or phone.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CD95CEE-0456-C73F-2B1B-F37FCAB9C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8318" y="4061460"/>
            <a:ext cx="2339035" cy="222961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5433ACC-B4CA-AE8E-8035-7E1A5DAEB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793" y="3944112"/>
            <a:ext cx="1706308" cy="236677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77EECB4-B2B8-71DD-CA81-EED865C816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5855" y="3944112"/>
            <a:ext cx="2216849" cy="234696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53F7C32-A519-2F67-D90B-C95F19D2F1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931920"/>
            <a:ext cx="2156155" cy="23507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502920" cy="502920"/>
          </a:xfrm>
          <a:prstGeom prst="ellipse">
            <a:avLst/>
          </a:prstGeom>
          <a:solidFill>
            <a:srgbClr val="1E7FB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Layer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971800"/>
            <a:ext cx="300837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3D-printed interlocking track with known defect sections. Rolling chassis with flanged wheels driven by a constant-speed DC gear motor.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810512"/>
            <a:ext cx="502920" cy="502920"/>
          </a:xfrm>
          <a:prstGeom prst="ellipse">
            <a:avLst/>
          </a:prstGeom>
          <a:solidFill>
            <a:srgbClr val="1E7FBF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9432" y="246888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&amp; Compute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2971800"/>
            <a:ext cx="300837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with integrated WiFi. Dual distance sensors (gauge) + 6-DOF IMU (tilt) + rotary encoder (position).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1810512"/>
            <a:ext cx="502920" cy="502920"/>
          </a:xfrm>
          <a:prstGeom prst="ellipse">
            <a:avLst/>
          </a:prstGeom>
          <a:solidFill>
            <a:srgbClr val="1E7FBF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94192" y="246888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2971800"/>
            <a:ext cx="300837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 HTTP web server serving a live HTML dashboard. Real-time fault mapping shows the precise track location of flagged anomalies.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Working Principle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81912"/>
            <a:ext cx="457200" cy="457200"/>
          </a:xfrm>
          <a:prstGeom prst="ellipse">
            <a:avLst/>
          </a:prstGeom>
          <a:solidFill>
            <a:srgbClr val="1E7FB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10058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Speed Traversal  </a:t>
            </a: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motorized cart moves along the track while the position sensor tracks cumulative displacement from the origin.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95144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459736"/>
            <a:ext cx="457200" cy="457200"/>
          </a:xfrm>
          <a:prstGeom prst="ellipse">
            <a:avLst/>
          </a:prstGeom>
          <a:solidFill>
            <a:srgbClr val="1E7FB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59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295144"/>
            <a:ext cx="10058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Gauge Measurement  </a:t>
            </a: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Opposing distance sensors measure the inward distance to each rail flange; the sum deviation indicates gauge widening or narrowing.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rgbClr val="1E7FB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172968"/>
            <a:ext cx="10058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Cross-Level / Tilt Profiling  </a:t>
            </a: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IMU measures roll angle in real time to calculate elevation difference across the left and right rails.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215384"/>
            <a:ext cx="457200" cy="457200"/>
          </a:xfrm>
          <a:prstGeom prst="ellipse">
            <a:avLst/>
          </a:prstGeom>
          <a:solidFill>
            <a:srgbClr val="1E7FB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15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4050792"/>
            <a:ext cx="10058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Threshold Evaluation  </a:t>
            </a: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values are compared against programmed baseline ranges; out-of-bound readings trigger defect flags with distance coordinates.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928616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5093208"/>
            <a:ext cx="457200" cy="457200"/>
          </a:xfrm>
          <a:prstGeom prst="ellipse">
            <a:avLst/>
          </a:prstGeom>
          <a:solidFill>
            <a:srgbClr val="1E7FB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093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928616"/>
            <a:ext cx="10058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Stream  </a:t>
            </a: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records are instantaneously updated to the local web dashboard for remote inspection.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685800" y="3794760"/>
            <a:ext cx="1280160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977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Build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4983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Justification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Deterministic Threshold Logic?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gauge and cross-level tilt are physical, scale-invariant geometric dimensions. Physical safety limits apply directly regardless of scale or AI classification models.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deterministic numeric comparison eliminates black-box model uncertainty and ensures reliable execution.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for Capstone Scope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Training Data Needed — </a:t>
            </a:r>
            <a:r>
              <a:rPr lang="en-US" sz="12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the requirement for thousands of labelled dataset images.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31089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Verification — </a:t>
            </a:r>
            <a:r>
              <a:rPr lang="en-US" sz="12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flagged defect is traceable to physical mathematical bounds.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39776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Computational Overhead — </a:t>
            </a:r>
            <a:r>
              <a:rPr lang="en-US" sz="12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efficiently on microcontrollers without dedicated AI hardware accelerators.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 &amp; Budget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929681"/>
              </p:ext>
            </p:extLst>
          </p:nvPr>
        </p:nvGraphicFramePr>
        <p:xfrm>
          <a:off x="548640" y="1508760"/>
          <a:ext cx="11064240" cy="33604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Cost (Rs.)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3D-Printed Track &amp; Cart Chassis (PLA)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 defect track &amp; rolling body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~800 – 1,000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WiFi Microcontroller (ESP32)+Camera+ESP32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reading, decision logic &amp; web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Sensors + IMU + Encoder+MPU6050+VL53L0X+GPS(module)+TCRT5000+IR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Gauge measurement, tilt profiling &amp; position tracking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latin typeface="Calibri" charset="0"/>
                          <a:ea typeface="Calibri" charset="0"/>
                          <a:cs typeface="Calibri" charset="0"/>
                        </a:rPr>
                        <a:t>~3000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&amp; Power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Geared Motor, Driver &amp; Battery Pack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Propulsion, power management &amp; regulation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~600 – 700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Estimated Build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7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~Rs.4,500-5000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Circuit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7FB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2468880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Isolation Architecture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3108960"/>
            <a:ext cx="316382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power rails for motor power and sensor/compute logic, sharing a common ground — prevents inductive motor voltage spikes from resetting the microcontroller.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7FB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0288" y="2468880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Conditioning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0288" y="3108960"/>
            <a:ext cx="316382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 voltage dividers adjust sensor logic levels to match the microcontroller's 3.3V GPIO input tolerances, preventing pin degradation.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7FBF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468880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Decoupling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30768" y="3108960"/>
            <a:ext cx="316382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capacitors suppress electrical noise to ensure stable sensor readings during active motor drive.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685800" y="3794760"/>
            <a:ext cx="1280160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977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Validation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58368" y="498348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 w="12700">
            <a:solidFill>
              <a:srgbClr val="29AB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983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29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PRESENTER 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&amp; Calibration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Sketch (Stage 1)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first — prints raw sensor readings (distance sum, roll angle) to a serial monitor so real baseline and tolerance values can be measured directly from the printed track.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noise is recorded on a clean section; peak deviation is recorded by rolling slowly across each known defect section.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Detection Firmware (Stage 2)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both distance sensors and the IMU on a fixed sampling interval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cumulative cart position from encoder pulses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 timestamped, positioned defect when a reading exceeds tolerance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motor at a constant speed for repeatable traversal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its own WiFi access point and serves the live dashboard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Execution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013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Calibration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Upon power-up on a known standard segment, baseline gauge and roll-angle values are sampled and saved.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0" y="29260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9ABE2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56432" y="16002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9312" y="18013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Sampling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39312" y="242316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sampling of left/right distance sensors, 6-axis accelerometer/gyroscope, and wheel encoder pulses during movement.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08192" y="29260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9ABE2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64224" y="16002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47104" y="18013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Comparison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47104" y="242316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against programmed tolerance bounds for both gauge deviation and roll deviation.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015984" y="29260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9ABE2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272016" y="16002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54896" y="18013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Dashboard Log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454896" y="242316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anomaly exceeds limits, an event with the exact track position is logged and pushed to the web UI.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Testing Approach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5661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Criterion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Track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 track without defects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position updating; zero false anomaly flags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true-negative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Gauge Defect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segment with artificial gauge widening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gauge-widening defect at correct track 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Positional error &lt; 15mm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Cross-Level Defect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section with single-rail elevation dip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cross-level/twist anomaly on live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tilt magnitude detected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consecutive full-track runs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defect locations logged consistently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repeatability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2918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685800" y="3794760"/>
            <a:ext cx="1280160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977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Timeline &amp; Future Scope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4983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918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Web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120640" cy="5285232"/>
          </a:xfrm>
          <a:prstGeom prst="roundRect">
            <a:avLst>
              <a:gd name="adj" fmla="val 1720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track status, defect counter, battery, GPS, latest event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— full event log with ID, time, type, IR state, GPS, status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— camera-capture gallery for each detected abnormality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— live accelerometer &amp; gyroscope telemetry, IR indicator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— GPS map view with a direct Google Maps link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— telemetry, notification &amp; upload toggles</a:t>
            </a:r>
          </a:p>
          <a:p>
            <a:pPr>
              <a:spcAft>
                <a:spcPts val="800"/>
              </a:spcAft>
              <a:buSzPct val="100000"/>
            </a:pP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0" y="1417320"/>
            <a:ext cx="5669280" cy="3009900"/>
          </a:xfrm>
          <a:prstGeom prst="roundRect">
            <a:avLst>
              <a:gd name="adj" fmla="val 1720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1600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0" y="201168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directly by the microcontroller's own WiFi access point — no internet needed. The page auto-refreshes so a reviewer watching the dashboard during a live run can see a defect appear, get logged with its exact position, and be pinned on a map in real time.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“simulate defect” control lets the team demonstrate the alert flow on demand, and a toast-notification system highlights every new event as it happens.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7547DA5-D8A5-2A12-F8E1-4FB2CE00A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" y="3977640"/>
            <a:ext cx="4572000" cy="277063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013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7FB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Deployment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2860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 inspection pods on revenue train bogies for continuous commercial track scanning.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456432" y="16002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9312" y="18013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7FBF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39312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Crack Scanning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39312" y="3017520"/>
            <a:ext cx="22860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IR surface scanners paired with high-speed camera triggers to capture rail-head micro-fractures.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364224" y="16002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47104" y="18013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7FBF"/>
          </a:solidFill>
          <a:ln/>
        </p:spPr>
      </p:sp>
      <p:sp>
        <p:nvSpPr>
          <p:cNvPr id="16" name="Text 14"/>
          <p:cNvSpPr/>
          <p:nvPr/>
        </p:nvSpPr>
        <p:spPr>
          <a:xfrm>
            <a:off x="6547104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47104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&amp; Cellular Telemetry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47104" y="3017520"/>
            <a:ext cx="22860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local WiFi dashboard with a GSM/GPS module for cloud-based centralized dispatching.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272016" y="16002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3F7FA"/>
          </a:solidFill>
          <a:ln w="9525">
            <a:solidFill>
              <a:srgbClr val="D7E2E9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54896" y="18013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7FBF"/>
          </a:solidFill>
          <a:ln/>
        </p:spPr>
      </p:sp>
      <p:sp>
        <p:nvSpPr>
          <p:cNvPr id="21" name="Text 19"/>
          <p:cNvSpPr/>
          <p:nvPr/>
        </p:nvSpPr>
        <p:spPr>
          <a:xfrm>
            <a:off x="9454896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54896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Harvesting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454896" y="3017520"/>
            <a:ext cx="22860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4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Harnessing wheel-rotation axle generators for continuous, self-powered autonomous operation.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ABE2"/>
          </a:solidFill>
          <a:ln/>
        </p:spPr>
      </p:sp>
      <p:sp>
        <p:nvSpPr>
          <p:cNvPr id="3" name="Text 1"/>
          <p:cNvSpPr/>
          <p:nvPr/>
        </p:nvSpPr>
        <p:spPr>
          <a:xfrm>
            <a:off x="-213360" y="302514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05" y="38557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9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RailGuard: Track Geometry Defect Detection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438248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38248" y="4206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1790</Words>
  <Application>Microsoft Office PowerPoint</Application>
  <PresentationFormat>Widescreen</PresentationFormat>
  <Paragraphs>294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alladaprasanth12@outlook.com</cp:lastModifiedBy>
  <cp:revision>4</cp:revision>
  <dcterms:created xsi:type="dcterms:W3CDTF">2026-09-22T09:40:22Z</dcterms:created>
  <dcterms:modified xsi:type="dcterms:W3CDTF">2026-09-22T13:42:43Z</dcterms:modified>
</cp:coreProperties>
</file>